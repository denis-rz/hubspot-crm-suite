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6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台灣求職技術作品集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客戶關係管理沙盒系統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EF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從零打造的模組化業務與品管系統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214884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F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可實際建立、修改、關聯與匯入資料；核心客戶關係管理資料會持久化到本機資料層。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3429000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263A59"/>
          </a:solidFill>
          <a:ln w="12700">
            <a:solidFill>
              <a:srgbClr val="263A5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3483864"/>
            <a:ext cx="1033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7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C# / .NET 8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792224" y="3429000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263A59"/>
          </a:solidFill>
          <a:ln w="12700">
            <a:solidFill>
              <a:srgbClr val="263A5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348386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7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最小化介面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493008" y="3429000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263A59"/>
          </a:solidFill>
          <a:ln w="12700">
            <a:solidFill>
              <a:srgbClr val="263A5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348386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7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原生瀏覽器模組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056632" y="3429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63A59"/>
          </a:solidFill>
          <a:ln w="12700">
            <a:solidFill>
              <a:srgbClr val="263A5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3483864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7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執行階段外掛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5321808" cy="685800"/>
          </a:xfrm>
          <a:prstGeom prst="roundRect">
            <a:avLst>
              <a:gd name="adj" fmla="val 10667"/>
            </a:avLst>
          </a:prstGeom>
          <a:solidFill>
            <a:srgbClr val="FFF0CF"/>
          </a:solidFill>
          <a:ln w="12700">
            <a:solidFill>
              <a:srgbClr val="FFF0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4169664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專案界線：不連接外部管理平台，不需要介接金鑰或帳號。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30352" y="5120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" y="54681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C9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C#／.NET 後端與系統整合工程師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658368"/>
            <a:ext cx="548640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pic>
        <p:nvPicPr>
          <p:cNvPr id="20" name="Image 0" descr="C:\Users\mikedell\Desktop\CRM_Sandbox_Portfolio\Project\hubspot-deals-sandbox-presentation\screenshots\deal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749808"/>
            <a:ext cx="5303520" cy="5257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156448" y="62362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C9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實際運行畫面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業務流程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從主資料到可追蹤交易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系統把公司、聯絡人、交易、關聯與批次資料處理串成一條完整流程。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214884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475488" cy="274320"/>
          </a:xfrm>
          <a:prstGeom prst="roundRect">
            <a:avLst>
              <a:gd name="adj" fmla="val 20000"/>
            </a:avLst>
          </a:prstGeom>
          <a:solidFill>
            <a:srgbClr val="FDE5DE"/>
          </a:solidFill>
          <a:ln w="12700">
            <a:solidFill>
              <a:srgbClr val="FDE5D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38658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公司主資料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建立組織與產業資訊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008376" y="2953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55848" y="214884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2331720"/>
            <a:ext cx="475488" cy="274320"/>
          </a:xfrm>
          <a:prstGeom prst="roundRect">
            <a:avLst>
              <a:gd name="adj" fmla="val 20000"/>
            </a:avLst>
          </a:prstGeom>
          <a:solidFill>
            <a:srgbClr val="FDE5DE"/>
          </a:solidFill>
          <a:ln w="12700">
            <a:solidFill>
              <a:srgbClr val="FDE5D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238658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520440" y="276148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聯絡人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3520440" y="34747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保存窗口與生命週期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5888736" y="2953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6208" y="214884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2331720"/>
            <a:ext cx="475488" cy="274320"/>
          </a:xfrm>
          <a:prstGeom prst="roundRect">
            <a:avLst>
              <a:gd name="adj" fmla="val 20000"/>
            </a:avLst>
          </a:prstGeom>
          <a:solidFill>
            <a:srgbClr val="FDE5DE"/>
          </a:solidFill>
          <a:ln w="12700">
            <a:solidFill>
              <a:srgbClr val="FDE5D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238658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400800" y="276148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指定銷售管線與階段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8769096" y="29535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16568" y="2148840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DFF3F0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81160" y="2331720"/>
            <a:ext cx="475488" cy="274320"/>
          </a:xfrm>
          <a:prstGeom prst="roundRect">
            <a:avLst>
              <a:gd name="adj" fmla="val 20000"/>
            </a:avLst>
          </a:prstGeom>
          <a:solidFill>
            <a:srgbClr val="B9E5DF"/>
          </a:solidFill>
          <a:ln w="12700">
            <a:solidFill>
              <a:srgbClr val="B9E5D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36024" y="238658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C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9281160" y="276148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關聯與批次資料</a:t>
            </a:r>
            <a:endParaRPr lang="en-US" sz="1580" dirty="0"/>
          </a:p>
        </p:txBody>
      </p:sp>
      <p:sp>
        <p:nvSpPr>
          <p:cNvPr id="30" name="Text 28"/>
          <p:cNvSpPr/>
          <p:nvPr/>
        </p:nvSpPr>
        <p:spPr>
          <a:xfrm>
            <a:off x="9281160" y="34747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連結資料並批次處理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475488" y="470916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FF0CF"/>
          </a:solidFill>
          <a:ln w="12700">
            <a:solidFill>
              <a:srgbClr val="FFF0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4809744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商業價值：降低孤立資料與無效輸入，讓後續查詢、同步與報表更容易。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475488" y="5559552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571500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7881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97280" y="5678424"/>
            <a:ext cx="2779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資料關係清楚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7680" y="5559552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43984" y="571500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57881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19472" y="5678424"/>
            <a:ext cx="2779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流程可驗證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19872" y="5559552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66176" y="571500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66176" y="57881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741664" y="5678424"/>
            <a:ext cx="2779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整合邊界明確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已實作範圍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目前可實際操作的功能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75488" y="1508760"/>
            <a:ext cx="270662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64208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373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19385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四個領域完整增刪查改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70662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9584" y="1664208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7373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05072" y="1627632"/>
            <a:ext cx="19385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核心客戶關係管理資料持久化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2734056"/>
            <a:ext cx="270662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889504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626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" y="2852928"/>
            <a:ext cx="19385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雙向多對多關聯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734056"/>
            <a:ext cx="270662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9584" y="2889504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29626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05072" y="2852928"/>
            <a:ext cx="19385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欄位與業務規則驗證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" y="3959352"/>
            <a:ext cx="270662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411480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1879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97280" y="4078224"/>
            <a:ext cx="19385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批次資料預覽後套用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3959352"/>
            <a:ext cx="270662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29584" y="411480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41879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05072" y="4078224"/>
            <a:ext cx="19385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篩選、分頁、列內編輯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19088" y="1389888"/>
            <a:ext cx="5285232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pic>
        <p:nvPicPr>
          <p:cNvPr id="32" name="Image 0" descr="C:\Users\mikedell\Desktop\CRM_Sandbox_Portfolio\Project\hubspot-deals-sandbox-presentation\screenshots\contact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1481328"/>
            <a:ext cx="5102352" cy="422452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419088" y="5870448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E1F3E8"/>
          </a:solidFill>
          <a:ln w="12700">
            <a:solidFill>
              <a:srgbClr val="E1F3E8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601968" y="5971032"/>
            <a:ext cx="4919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不是靜態模型：核心資料的新增與修改會寫入本機資料檔案。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模組化單體與資料流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每個領域擁有自己的端點與服務；共享資料層負責持久化與關聯一致性。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493776" y="20574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2057400"/>
            <a:ext cx="73152" cy="1298448"/>
          </a:xfrm>
          <a:prstGeom prst="rect">
            <a:avLst/>
          </a:prstGeom>
          <a:solidFill>
            <a:srgbClr val="16253D"/>
          </a:solidFill>
          <a:ln w="12700">
            <a:solidFill>
              <a:srgbClr val="1625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331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瀏覽器介面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246888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98064" y="20574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98064" y="2057400"/>
            <a:ext cx="73152" cy="1298448"/>
          </a:xfrm>
          <a:prstGeom prst="rect">
            <a:avLst/>
          </a:prstGeom>
          <a:solidFill>
            <a:srgbClr val="142033"/>
          </a:solidFill>
          <a:ln w="12700">
            <a:solidFill>
              <a:srgbClr val="1420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2331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最小化介面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4773168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02352" y="20574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02352" y="2057400"/>
            <a:ext cx="73152" cy="1298448"/>
          </a:xfrm>
          <a:prstGeom prst="rect">
            <a:avLst/>
          </a:prstGeom>
          <a:solidFill>
            <a:srgbClr val="142033"/>
          </a:solidFill>
          <a:ln w="12700">
            <a:solidFill>
              <a:srgbClr val="1420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2331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客戶關係管理模組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077456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20574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06640" y="2057400"/>
            <a:ext cx="73152" cy="1298448"/>
          </a:xfrm>
          <a:prstGeom prst="rect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331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本機資料儲存層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9381744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710928" y="20574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0CF"/>
          </a:solidFill>
          <a:ln w="12700">
            <a:solidFill>
              <a:srgbClr val="FFF0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10928" y="2057400"/>
            <a:ext cx="73152" cy="1298448"/>
          </a:xfrm>
          <a:prstGeom prst="rect">
            <a:avLst/>
          </a:prstGeom>
          <a:solidFill>
            <a:srgbClr val="B97716"/>
          </a:solidFill>
          <a:ln w="12700">
            <a:solidFill>
              <a:srgbClr val="B9771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23317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本機資料檔案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493776" y="4041648"/>
            <a:ext cx="111739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" y="4279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執行階段外掛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4718304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8F6F1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7824" y="48463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外掛壓縮檔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2907792" y="48920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91840" y="4718304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8F6F1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19856" y="48463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隔離載入</a:t>
            </a:r>
            <a:endParaRPr lang="en-US" sz="1160" dirty="0"/>
          </a:p>
        </p:txBody>
      </p:sp>
      <p:sp>
        <p:nvSpPr>
          <p:cNvPr id="34" name="Text 32"/>
          <p:cNvSpPr/>
          <p:nvPr/>
        </p:nvSpPr>
        <p:spPr>
          <a:xfrm>
            <a:off x="5449824" y="48920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833872" y="4718304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DE5DE"/>
          </a:solidFill>
          <a:ln w="12700">
            <a:solidFill>
              <a:srgbClr val="FDE5DE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61888" y="48463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固定分派器</a:t>
            </a:r>
            <a:endParaRPr lang="en-US" sz="1160" dirty="0"/>
          </a:p>
        </p:txBody>
      </p:sp>
      <p:sp>
        <p:nvSpPr>
          <p:cNvPr id="37" name="Text 35"/>
          <p:cNvSpPr/>
          <p:nvPr/>
        </p:nvSpPr>
        <p:spPr>
          <a:xfrm>
            <a:off x="7991856" y="48920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375904" y="4718304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8F6F1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503920" y="48463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動態使用者介面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749808" y="553212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設計選擇：ASP.NET 路由在啟動時註冊，因此外掛後端動作使用固定分派器，而不是宣稱能動態新增路由。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核心畫面：主資料與交易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75488" y="1353312"/>
            <a:ext cx="559612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pic>
        <p:nvPicPr>
          <p:cNvPr id="8" name="Image 0" descr="C:\Users\mikedell\Desktop\CRM_Sandbox_Portfolio\Project\hubspot-deals-sandbox-presentation\screenshots\companie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5413248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353312"/>
            <a:ext cx="55778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pic>
        <p:nvPicPr>
          <p:cNvPr id="10" name="Image 1" descr="C:\Users\mikedell\Desktop\CRM_Sandbox_Portfolio\Project\hubspot-deals-sandbox-presentation\screenshots\deals-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44752"/>
            <a:ext cx="5394960" cy="3246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" y="5010912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" y="516636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52395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097280" y="5129784"/>
            <a:ext cx="27980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公司是關聯基礎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15968" y="5010912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62272" y="516636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62272" y="52395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37760" y="5129784"/>
            <a:ext cx="27980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交易依銷售管線與階段追蹤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38160" y="5010912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84464" y="516636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84464" y="52395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759952" y="5129784"/>
            <a:ext cx="27980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展開列即可查看關聯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匯入與錯誤處理不是附加功能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75488" y="1371600"/>
            <a:ext cx="5577840" cy="3319272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pic>
        <p:nvPicPr>
          <p:cNvPr id="8" name="Image 0" descr="C:\Users\mikedell\Desktop\CRM_Sandbox_Portfolio\Project\hubspot-deals-sandbox-presentation\screenshots\import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5394960" cy="31363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371600"/>
            <a:ext cx="5577840" cy="3319272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pic>
        <p:nvPicPr>
          <p:cNvPr id="10" name="Image 1" descr="C:\Users\mikedell\Desktop\CRM_Sandbox_Portfolio\Project\hubspot-deals-sandbox-presentation\screenshots\contact-validation-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94960" cy="31363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" y="4937760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" y="5093208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51663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097280" y="5056632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先分析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297680" y="4937760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43984" y="5093208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43984" y="51663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19472" y="5056632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再預覽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19872" y="4937760"/>
            <a:ext cx="3566160" cy="896112"/>
          </a:xfrm>
          <a:prstGeom prst="roundRect">
            <a:avLst>
              <a:gd name="adj" fmla="val 8163"/>
            </a:avLst>
          </a:prstGeom>
          <a:solidFill>
            <a:srgbClr val="E1F3E8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66176" y="5093208"/>
            <a:ext cx="347472" cy="347472"/>
          </a:xfrm>
          <a:prstGeom prst="ellipse">
            <a:avLst/>
          </a:prstGeom>
          <a:solidFill>
            <a:srgbClr val="238456"/>
          </a:solidFill>
          <a:ln w="12700">
            <a:solidFill>
              <a:srgbClr val="238456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66176" y="51663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741664" y="5056632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最後套用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30352" y="60533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同一套錯誤模型把後端 400 回應映射到表單摘要、欄位紅框與行內提示。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延伸能力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製造品管模組與執行階段外掛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75488" y="1353312"/>
            <a:ext cx="5806440" cy="4187952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pic>
        <p:nvPicPr>
          <p:cNvPr id="8" name="Image 0" descr="C:\Users\mikedell\Desktop\CRM_Sandbox_Portfolio\Project\hubspot-deals-sandbox-presentation\screenshots\setting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5623560" cy="4005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37960" y="1389888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DFF3F0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84264" y="1545336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84264" y="16184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159752" y="1508760"/>
            <a:ext cx="4398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瑕疵紀錄畫面：料號、站別、嚴重度、狀態，新增與編輯都透過彈窗進行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37960" y="2523744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DFF3F0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84264" y="2679192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84264" y="275234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159752" y="2642616"/>
            <a:ext cx="4398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支援人工與視覺系統來源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37960" y="365760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84264" y="3813048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84264" y="38862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159752" y="3776472"/>
            <a:ext cx="4398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可選擇連結到公司紀錄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37960" y="4791456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84264" y="4946904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84264" y="50200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159752" y="4910328"/>
            <a:ext cx="4398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外掛壓縮檔：後端元件＋前端模組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" y="5742432"/>
            <a:ext cx="5806440" cy="685800"/>
          </a:xfrm>
          <a:prstGeom prst="roundRect">
            <a:avLst>
              <a:gd name="adj" fmla="val 10667"/>
            </a:avLst>
          </a:prstGeom>
          <a:solidFill>
            <a:srgbClr val="FFF0CF"/>
          </a:solidFill>
          <a:ln w="12700">
            <a:solidFill>
              <a:srgbClr val="FFF0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58368" y="5843016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這不是微服務；它是邊界清楚、可逐步拆分的模組化單體。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驗證與邊界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已驗證的證據與目前邊界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75488" y="1389888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4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139696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E1F3E8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295144"/>
            <a:ext cx="347472" cy="347472"/>
          </a:xfrm>
          <a:prstGeom prst="ellipse">
            <a:avLst/>
          </a:prstGeom>
          <a:solidFill>
            <a:srgbClr val="238456"/>
          </a:solidFill>
          <a:ln w="12700">
            <a:solidFill>
              <a:srgbClr val="23845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6829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0" y="2258568"/>
            <a:ext cx="4123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發行組態建置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2962656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E1F3E8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118104"/>
            <a:ext cx="347472" cy="347472"/>
          </a:xfrm>
          <a:prstGeom prst="ellipse">
            <a:avLst/>
          </a:prstGeom>
          <a:solidFill>
            <a:srgbClr val="238456"/>
          </a:solidFill>
          <a:ln w="12700">
            <a:solidFill>
              <a:srgbClr val="23845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912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3081528"/>
            <a:ext cx="4123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真實操作畫面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3785616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E1F3E8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3941064"/>
            <a:ext cx="347472" cy="347472"/>
          </a:xfrm>
          <a:prstGeom prst="ellipse">
            <a:avLst/>
          </a:prstGeom>
          <a:solidFill>
            <a:srgbClr val="238456"/>
          </a:solidFill>
          <a:ln w="12700">
            <a:solidFill>
              <a:srgbClr val="23845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01421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71600" y="3904488"/>
            <a:ext cx="4123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核心客戶關係管理資料持久化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" y="4608576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E1F3E8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4764024"/>
            <a:ext cx="347472" cy="347472"/>
          </a:xfrm>
          <a:prstGeom prst="ellipse">
            <a:avLst/>
          </a:prstGeom>
          <a:solidFill>
            <a:srgbClr val="238456"/>
          </a:solidFill>
          <a:ln w="12700">
            <a:solidFill>
              <a:srgbClr val="23845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83717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71600" y="4727448"/>
            <a:ext cx="4123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程式邊界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81344" y="1389888"/>
            <a:ext cx="5522976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55664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77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目前仍屬作品集系統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55664" y="2139696"/>
            <a:ext cx="4974336" cy="658368"/>
          </a:xfrm>
          <a:prstGeom prst="roundRect">
            <a:avLst>
              <a:gd name="adj" fmla="val 11111"/>
            </a:avLst>
          </a:prstGeom>
          <a:solidFill>
            <a:srgbClr val="FFF0C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01968" y="2295144"/>
            <a:ext cx="347472" cy="347472"/>
          </a:xfrm>
          <a:prstGeom prst="ellipse">
            <a:avLst/>
          </a:prstGeom>
          <a:solidFill>
            <a:srgbClr val="B97716"/>
          </a:solidFill>
          <a:ln w="12700">
            <a:solidFill>
              <a:srgbClr val="B9771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236829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77456" y="22585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沒有使用者登入與權限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55664" y="2962656"/>
            <a:ext cx="4974336" cy="658368"/>
          </a:xfrm>
          <a:prstGeom prst="roundRect">
            <a:avLst>
              <a:gd name="adj" fmla="val 11111"/>
            </a:avLst>
          </a:prstGeom>
          <a:solidFill>
            <a:srgbClr val="FFF0C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01968" y="3118104"/>
            <a:ext cx="347472" cy="347472"/>
          </a:xfrm>
          <a:prstGeom prst="ellipse">
            <a:avLst/>
          </a:prstGeom>
          <a:solidFill>
            <a:srgbClr val="B97716"/>
          </a:solidFill>
          <a:ln w="12700">
            <a:solidFill>
              <a:srgbClr val="B9771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31912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77456" y="308152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單一程序＋檔案儲存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55664" y="3785616"/>
            <a:ext cx="4974336" cy="658368"/>
          </a:xfrm>
          <a:prstGeom prst="roundRect">
            <a:avLst>
              <a:gd name="adj" fmla="val 11111"/>
            </a:avLst>
          </a:prstGeom>
          <a:solidFill>
            <a:srgbClr val="FFF0C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01968" y="3941064"/>
            <a:ext cx="347472" cy="347472"/>
          </a:xfrm>
          <a:prstGeom prst="ellipse">
            <a:avLst/>
          </a:prstGeom>
          <a:solidFill>
            <a:srgbClr val="B97716"/>
          </a:solidFill>
          <a:ln w="12700">
            <a:solidFill>
              <a:srgbClr val="B9771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401421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77456" y="390448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寫入以簡單鎖序列化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55664" y="4608576"/>
            <a:ext cx="4974336" cy="658368"/>
          </a:xfrm>
          <a:prstGeom prst="roundRect">
            <a:avLst>
              <a:gd name="adj" fmla="val 11111"/>
            </a:avLst>
          </a:prstGeom>
          <a:solidFill>
            <a:srgbClr val="FFF0C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01968" y="4764024"/>
            <a:ext cx="347472" cy="347472"/>
          </a:xfrm>
          <a:prstGeom prst="ellipse">
            <a:avLst/>
          </a:prstGeom>
          <a:solidFill>
            <a:srgbClr val="B97716"/>
          </a:solidFill>
          <a:ln w="12700">
            <a:solidFill>
              <a:srgbClr val="B9771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483717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77456" y="47274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尚未展示自動化測試覆蓋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" y="6062472"/>
            <a:ext cx="11228832" cy="685800"/>
          </a:xfrm>
          <a:prstGeom prst="roundRect">
            <a:avLst>
              <a:gd name="adj" fmla="val 10667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58368" y="6163056"/>
            <a:ext cx="10863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這些限制是明確的工程待辦，不會被包裝成可正式上線的系統。</a:t>
            </a:r>
            <a:endParaRPr lang="en-US" sz="12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28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6F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程式碼層級設計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8912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Denis Ryzhov｜客戶關係管理沙盒技術作品集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68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5120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程式碼中可直接驗證的工程設計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最後一頁只整理專案已實作的關鍵決策，以及每個決策解決的問題。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938528"/>
            <a:ext cx="541324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093976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6712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97280" y="2057400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關聯獨立儲存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38528"/>
            <a:ext cx="541324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2093976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216712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48272" y="2057400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中央錯誤合約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" y="3200400"/>
            <a:ext cx="541324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355848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290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97280" y="3319272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批次匯入兩階段流程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541324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3355848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34290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48272" y="3319272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設定驅動模組順序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" y="4462272"/>
            <a:ext cx="5413248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4617720"/>
            <a:ext cx="347472" cy="347472"/>
          </a:xfrm>
          <a:prstGeom prst="ellipse">
            <a:avLst/>
          </a:prstGeom>
          <a:solidFill>
            <a:srgbClr val="F36F56"/>
          </a:solidFill>
          <a:ln w="12700">
            <a:solidFill>
              <a:srgbClr val="F36F5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69087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" y="4581144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固定外掛分派器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4462272"/>
            <a:ext cx="5413248" cy="1033272"/>
          </a:xfrm>
          <a:prstGeom prst="roundRect">
            <a:avLst>
              <a:gd name="adj" fmla="val 7080"/>
            </a:avLst>
          </a:prstGeom>
          <a:solidFill>
            <a:srgbClr val="DFF3F0"/>
          </a:solidFill>
          <a:ln w="12700">
            <a:solidFill>
              <a:srgbClr val="DED9CF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4617720"/>
            <a:ext cx="347472" cy="347472"/>
          </a:xfrm>
          <a:prstGeom prst="ellipse">
            <a:avLst/>
          </a:prstGeom>
          <a:solidFill>
            <a:srgbClr val="1C8C82"/>
          </a:solidFill>
          <a:ln w="12700">
            <a:solidFill>
              <a:srgbClr val="1C8C8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469087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48272" y="4581144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獨立品管領域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" y="5815584"/>
            <a:ext cx="11228832" cy="685800"/>
          </a:xfrm>
          <a:prstGeom prst="roundRect">
            <a:avLst>
              <a:gd name="adj" fmla="val 10667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  <a:effectLst>
            <a:outerShdw sx="100000" sy="100000" kx="0" ky="0" algn="bl" rotWithShape="0" blurRad="12700" dist="50800" dir="2700000">
              <a:srgbClr val="A8A29A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5916168"/>
            <a:ext cx="10863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4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完整專案範圍：C# 後端、原生前端模組、資料層、批次匯入匯出、模組與執行階段外掛。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客戶關係管理沙盒系統｜Denis Ryzhov 技術作品集</dc:title>
  <dc:subject>台灣求職技術作品集：客戶關係管理沙盒系統</dc:subject>
  <dc:creator>Denis Ryzhov</dc:creator>
  <cp:lastModifiedBy>Denis Ryzhov</cp:lastModifiedBy>
  <cp:revision>1</cp:revision>
  <dcterms:created xsi:type="dcterms:W3CDTF">2026-08-17T09:07:52Z</dcterms:created>
  <dcterms:modified xsi:type="dcterms:W3CDTF">2026-08-17T09:07:52Z</dcterms:modified>
</cp:coreProperties>
</file>