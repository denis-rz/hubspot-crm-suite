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1"/>
          </a:solidFill>
          <a:ln w="12700">
            <a:solidFill>
              <a:srgbClr val="FBF7F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292608"/>
            <a:ext cx="1965960" cy="310896"/>
          </a:xfrm>
          <a:prstGeom prst="roundRect">
            <a:avLst>
              <a:gd name="adj" fmla="val 23529"/>
            </a:avLst>
          </a:prstGeom>
          <a:solidFill>
            <a:srgbClr val="FFE4DB"/>
          </a:solidFill>
          <a:ln w="12700">
            <a:solidFill>
              <a:srgbClr val="FFE4D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47472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5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CANDIDATE PRESENTATION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8912" y="749808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HubSpot CRM 整合展示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38912" y="1133856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HubSpot CRM Integration Demo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這份簡報不是單純介紹畫面，而是用一個可運作的系統來說明我如何處理 CRM 流程、資料驗證、API 整合與後續擴充。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457200" y="176479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This deck is not just a screen tour. It shows how I approach CRM workflow design, data validation, API integration, and practical next-step thinking.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932688" cy="256032"/>
          </a:xfrm>
          <a:prstGeom prst="roundRect">
            <a:avLst>
              <a:gd name="adj" fmla="val 25000"/>
            </a:avLst>
          </a:prstGeom>
          <a:solidFill>
            <a:srgbClr val="F3F5F9"/>
          </a:solidFill>
          <a:ln w="12700">
            <a:solidFill>
              <a:srgbClr val="F3F5F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22814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C# Backend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1444752" y="2240280"/>
            <a:ext cx="1051560" cy="256032"/>
          </a:xfrm>
          <a:prstGeom prst="roundRect">
            <a:avLst>
              <a:gd name="adj" fmla="val 25000"/>
            </a:avLst>
          </a:prstGeom>
          <a:solidFill>
            <a:srgbClr val="F3F5F9"/>
          </a:solidFill>
          <a:ln w="12700">
            <a:solidFill>
              <a:srgbClr val="F3F5F9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17904" y="2281428"/>
            <a:ext cx="941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HubSpot API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2578608" y="2240280"/>
            <a:ext cx="1143000" cy="256032"/>
          </a:xfrm>
          <a:prstGeom prst="roundRect">
            <a:avLst>
              <a:gd name="adj" fmla="val 25000"/>
            </a:avLst>
          </a:prstGeom>
          <a:solidFill>
            <a:srgbClr val="F3F5F9"/>
          </a:solidFill>
          <a:ln w="12700">
            <a:solidFill>
              <a:srgbClr val="F3F5F9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2281428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CRM Workflow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3794760" y="2240280"/>
            <a:ext cx="1216152" cy="256032"/>
          </a:xfrm>
          <a:prstGeom prst="roundRect">
            <a:avLst>
              <a:gd name="adj" fmla="val 25000"/>
            </a:avLst>
          </a:prstGeom>
          <a:solidFill>
            <a:srgbClr val="F3F5F9"/>
          </a:solidFill>
          <a:ln w="12700">
            <a:solidFill>
              <a:srgbClr val="F3F5F9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67912" y="2281428"/>
            <a:ext cx="1106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CSV Validation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5084064" y="2240280"/>
            <a:ext cx="1481328" cy="256032"/>
          </a:xfrm>
          <a:prstGeom prst="roundRect">
            <a:avLst>
              <a:gd name="adj" fmla="val 25000"/>
            </a:avLst>
          </a:prstGeom>
          <a:solidFill>
            <a:srgbClr val="F3F5F9"/>
          </a:solidFill>
          <a:ln w="12700">
            <a:solidFill>
              <a:srgbClr val="F3F5F9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57216" y="228142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SQL-ready Next Step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457200" y="2697480"/>
            <a:ext cx="173736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286207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Live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21792" y="326440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真實 HubSpot 測試環境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621792" y="3520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Live HubSpot sandbox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2331720" y="2697480"/>
            <a:ext cx="173736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96312" y="286207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2496312" y="326440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核心流程區塊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2496312" y="3520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Core workflow areas</a:t>
            </a:r>
            <a:endParaRPr lang="en-US" sz="830" dirty="0"/>
          </a:p>
        </p:txBody>
      </p:sp>
      <p:sp>
        <p:nvSpPr>
          <p:cNvPr id="27" name="Shape 25"/>
          <p:cNvSpPr/>
          <p:nvPr/>
        </p:nvSpPr>
        <p:spPr>
          <a:xfrm>
            <a:off x="4206240" y="2697480"/>
            <a:ext cx="182880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70832" y="28620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Role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370832" y="326440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對應 CRM / Integration 職缺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4370832" y="3520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Aligned to CRM / Integration roles</a:t>
            </a:r>
            <a:endParaRPr lang="en-US" sz="830" dirty="0"/>
          </a:p>
        </p:txBody>
      </p:sp>
      <p:sp>
        <p:nvSpPr>
          <p:cNvPr id="31" name="Shape 29"/>
          <p:cNvSpPr/>
          <p:nvPr/>
        </p:nvSpPr>
        <p:spPr>
          <a:xfrm>
            <a:off x="457200" y="3977640"/>
            <a:ext cx="5669280" cy="548640"/>
          </a:xfrm>
          <a:prstGeom prst="roundRect">
            <a:avLst>
              <a:gd name="adj" fmla="val 20000"/>
            </a:avLst>
          </a:prstGeom>
          <a:solidFill>
            <a:srgbClr val="FFF2D7"/>
          </a:solidFill>
          <a:ln w="12700">
            <a:solidFill>
              <a:srgbClr val="FFF2D7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" y="4096512"/>
            <a:ext cx="5349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重點不是把畫面做滿，而是證明我能把業務流程翻譯成可運作、可說明、可延伸的系統。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1792" y="4270248"/>
            <a:ext cx="5349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The point is not to decorate a UI. The point is to show I can turn a business workflow into a working, explainable, extensible system.</a:t>
            </a:r>
            <a:endParaRPr lang="en-US" sz="870" dirty="0"/>
          </a:p>
        </p:txBody>
      </p:sp>
      <p:sp>
        <p:nvSpPr>
          <p:cNvPr id="34" name="Shape 32"/>
          <p:cNvSpPr/>
          <p:nvPr/>
        </p:nvSpPr>
        <p:spPr>
          <a:xfrm>
            <a:off x="6446520" y="685800"/>
            <a:ext cx="5257800" cy="5440680"/>
          </a:xfrm>
          <a:prstGeom prst="roundRect">
            <a:avLst>
              <a:gd name="adj" fmla="val 2087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</p:sp>
      <p:pic>
        <p:nvPicPr>
          <p:cNvPr id="35" name="Image 0" descr="C:\Users\mikedell\hhupdate\hubspot-deals-sandbox-presentation\screenshots\deals-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6248" y="795528"/>
            <a:ext cx="5038344" cy="5221224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6537960" y="619963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右側畫面來自真實 HubSpot sandbox，並非靜態 mockup。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6537960" y="645566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The screen on the right is connected to a live HubSpot sandbox, not a static mockup.</a:t>
            </a:r>
            <a:endParaRPr lang="en-US" sz="8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1"/>
          </a:solidFill>
          <a:ln w="12700">
            <a:solidFill>
              <a:srgbClr val="FBF7F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292608"/>
            <a:ext cx="1783080" cy="310896"/>
          </a:xfrm>
          <a:prstGeom prst="roundRect">
            <a:avLst>
              <a:gd name="adj" fmla="val 23529"/>
            </a:avLst>
          </a:prstGeom>
          <a:solidFill>
            <a:srgbClr val="FFE4DB"/>
          </a:solidFill>
          <a:ln w="12700">
            <a:solidFill>
              <a:srgbClr val="FFE4D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47472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5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BUSINESS SCENARIO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8912" y="749808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這個系統解決什麼問題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38912" y="113385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What Business Problem It Solves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148132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如果公司希望用 CRM 管理客戶、窗口、商機與匯入資料，系統的重點就是資料正確、流程清楚、後續整合容易。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If a company wants CRM to manage accounts, contacts, opportunities, and batch updates, the real priorities are clean data, clear workflow, and easier downstream integration.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539496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8658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 CRM 作業流程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62432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Practical CRM operating flow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58368" y="2697480"/>
            <a:ext cx="498348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2862072"/>
            <a:ext cx="292608" cy="292608"/>
          </a:xfrm>
          <a:prstGeom prst="ellipse">
            <a:avLst/>
          </a:prstGeom>
          <a:solidFill>
            <a:srgbClr val="FFE4DB"/>
          </a:solidFill>
          <a:ln w="12700">
            <a:solidFill>
              <a:srgbClr val="FFE4D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2898648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75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88720" y="2825496"/>
            <a:ext cx="4306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先建立公司主資料，避免商機沒有所屬組織。</a:t>
            </a:r>
            <a:endParaRPr lang="en-US" sz="910" dirty="0"/>
          </a:p>
        </p:txBody>
      </p:sp>
      <p:sp>
        <p:nvSpPr>
          <p:cNvPr id="16" name="Text 14"/>
          <p:cNvSpPr/>
          <p:nvPr/>
        </p:nvSpPr>
        <p:spPr>
          <a:xfrm>
            <a:off x="1188720" y="3081528"/>
            <a:ext cx="4306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Create company master data first so the deal belongs to a real organization.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58368" y="3429000"/>
            <a:ext cx="498348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" y="3593592"/>
            <a:ext cx="292608" cy="292608"/>
          </a:xfrm>
          <a:prstGeom prst="ellipse">
            <a:avLst/>
          </a:prstGeom>
          <a:solidFill>
            <a:srgbClr val="FFE4DB"/>
          </a:solidFill>
          <a:ln w="12700">
            <a:solidFill>
              <a:srgbClr val="FFE4D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3630168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75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88720" y="3557016"/>
            <a:ext cx="4306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再建立聯絡人，對應實際窗口與溝通對象。</a:t>
            </a:r>
            <a:endParaRPr lang="en-US" sz="910" dirty="0"/>
          </a:p>
        </p:txBody>
      </p:sp>
      <p:sp>
        <p:nvSpPr>
          <p:cNvPr id="21" name="Text 19"/>
          <p:cNvSpPr/>
          <p:nvPr/>
        </p:nvSpPr>
        <p:spPr>
          <a:xfrm>
            <a:off x="1188720" y="3813048"/>
            <a:ext cx="4306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Then create the contact so communication is tied to a real person.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8368" y="4160520"/>
            <a:ext cx="498348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" y="4325112"/>
            <a:ext cx="292608" cy="292608"/>
          </a:xfrm>
          <a:prstGeom prst="ellipse">
            <a:avLst/>
          </a:prstGeom>
          <a:solidFill>
            <a:srgbClr val="FFE4DB"/>
          </a:solidFill>
          <a:ln w="12700">
            <a:solidFill>
              <a:srgbClr val="FFE4D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" y="4361688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75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88720" y="4288536"/>
            <a:ext cx="4306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建立商機並指定 pipeline / stage，讓銷售狀態可追蹤。</a:t>
            </a:r>
            <a:endParaRPr lang="en-US" sz="910" dirty="0"/>
          </a:p>
        </p:txBody>
      </p:sp>
      <p:sp>
        <p:nvSpPr>
          <p:cNvPr id="26" name="Text 24"/>
          <p:cNvSpPr/>
          <p:nvPr/>
        </p:nvSpPr>
        <p:spPr>
          <a:xfrm>
            <a:off x="1188720" y="4544568"/>
            <a:ext cx="4306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Create the deal with pipeline and stage so the sales process becomes trackable.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58368" y="4892040"/>
            <a:ext cx="498348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4672" y="5056632"/>
            <a:ext cx="292608" cy="292608"/>
          </a:xfrm>
          <a:prstGeom prst="ellipse">
            <a:avLst/>
          </a:prstGeom>
          <a:solidFill>
            <a:srgbClr val="FFE4DB"/>
          </a:solidFill>
          <a:ln w="12700">
            <a:solidFill>
              <a:srgbClr val="FFE4D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" y="5093208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75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88720" y="5020056"/>
            <a:ext cx="4306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用關聯與 CSV 流程把資料串起來，為後續整合做準備。</a:t>
            </a:r>
            <a:endParaRPr lang="en-US" sz="910" dirty="0"/>
          </a:p>
        </p:txBody>
      </p:sp>
      <p:sp>
        <p:nvSpPr>
          <p:cNvPr id="31" name="Text 29"/>
          <p:cNvSpPr/>
          <p:nvPr/>
        </p:nvSpPr>
        <p:spPr>
          <a:xfrm>
            <a:off x="1188720" y="5276088"/>
            <a:ext cx="4306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 associations and CSV workflow to connect records and prepare for future integration.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126480" y="1783080"/>
            <a:ext cx="557784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1929384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 HR 與主管的意義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09360" y="2167128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Why this matters to HR and a hiring manager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327648" y="2240280"/>
            <a:ext cx="5175504" cy="713232"/>
          </a:xfrm>
          <a:prstGeom prst="roundRect">
            <a:avLst>
              <a:gd name="adj" fmla="val 15385"/>
            </a:avLst>
          </a:prstGeom>
          <a:solidFill>
            <a:srgbClr val="FFFAF2"/>
          </a:solidFill>
          <a:ln w="12700">
            <a:solidFill>
              <a:srgbClr val="E7DCC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73952" y="2404872"/>
            <a:ext cx="292608" cy="292608"/>
          </a:xfrm>
          <a:prstGeom prst="ellipse">
            <a:avLst/>
          </a:prstGeom>
          <a:solidFill>
            <a:srgbClr val="FFE4DB"/>
          </a:solidFill>
          <a:ln w="12700">
            <a:solidFill>
              <a:srgbClr val="FFE4DB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73952" y="2441448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75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858000" y="2368296"/>
            <a:ext cx="4498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這不是單一 CRUD 畫面，而是完整 CRM 物件思維。</a:t>
            </a:r>
            <a:endParaRPr lang="en-US" sz="910" dirty="0"/>
          </a:p>
        </p:txBody>
      </p:sp>
      <p:sp>
        <p:nvSpPr>
          <p:cNvPr id="39" name="Text 37"/>
          <p:cNvSpPr/>
          <p:nvPr/>
        </p:nvSpPr>
        <p:spPr>
          <a:xfrm>
            <a:off x="6858000" y="2624328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This is not a single CRUD page. It shows complete CRM object thinking.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327648" y="3108960"/>
            <a:ext cx="5175504" cy="713232"/>
          </a:xfrm>
          <a:prstGeom prst="roundRect">
            <a:avLst>
              <a:gd name="adj" fmla="val 15385"/>
            </a:avLst>
          </a:prstGeom>
          <a:solidFill>
            <a:srgbClr val="FFFAF2"/>
          </a:solidFill>
          <a:ln w="12700">
            <a:solidFill>
              <a:srgbClr val="E7DCC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73952" y="3273552"/>
            <a:ext cx="292608" cy="292608"/>
          </a:xfrm>
          <a:prstGeom prst="ellipse">
            <a:avLst/>
          </a:prstGeom>
          <a:solidFill>
            <a:srgbClr val="FFE4DB"/>
          </a:solidFill>
          <a:ln w="12700">
            <a:solidFill>
              <a:srgbClr val="FFE4DB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73952" y="3310128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75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858000" y="3236976"/>
            <a:ext cx="4498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它反映我能理解業務流程，不只是寫 API。</a:t>
            </a:r>
            <a:endParaRPr lang="en-US" sz="910" dirty="0"/>
          </a:p>
        </p:txBody>
      </p:sp>
      <p:sp>
        <p:nvSpPr>
          <p:cNvPr id="44" name="Text 42"/>
          <p:cNvSpPr/>
          <p:nvPr/>
        </p:nvSpPr>
        <p:spPr>
          <a:xfrm>
            <a:off x="6858000" y="3493008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It reflects that I understand business workflow, not just endpoints.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327648" y="3977640"/>
            <a:ext cx="5175504" cy="713232"/>
          </a:xfrm>
          <a:prstGeom prst="roundRect">
            <a:avLst>
              <a:gd name="adj" fmla="val 15385"/>
            </a:avLst>
          </a:prstGeom>
          <a:solidFill>
            <a:srgbClr val="FFFAF2"/>
          </a:solidFill>
          <a:ln w="12700">
            <a:solidFill>
              <a:srgbClr val="E7DCC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73952" y="4142232"/>
            <a:ext cx="292608" cy="292608"/>
          </a:xfrm>
          <a:prstGeom prst="ellipse">
            <a:avLst/>
          </a:prstGeom>
          <a:solidFill>
            <a:srgbClr val="FFE4DB"/>
          </a:solidFill>
          <a:ln w="12700">
            <a:solidFill>
              <a:srgbClr val="FFE4DB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73952" y="4178808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75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858000" y="4105656"/>
            <a:ext cx="4498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它也保留了下一步做 SQL staging / audit 的空間。</a:t>
            </a:r>
            <a:endParaRPr lang="en-US" sz="910" dirty="0"/>
          </a:p>
        </p:txBody>
      </p:sp>
      <p:sp>
        <p:nvSpPr>
          <p:cNvPr id="49" name="Text 47"/>
          <p:cNvSpPr/>
          <p:nvPr/>
        </p:nvSpPr>
        <p:spPr>
          <a:xfrm>
            <a:off x="6858000" y="4361688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It also leaves a clean next step for SQL staging and audit capability.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327648" y="5010912"/>
            <a:ext cx="5175504" cy="548640"/>
          </a:xfrm>
          <a:prstGeom prst="roundRect">
            <a:avLst>
              <a:gd name="adj" fmla="val 20000"/>
            </a:avLst>
          </a:prstGeom>
          <a:solidFill>
            <a:srgbClr val="FFF2D7"/>
          </a:solidFill>
          <a:ln w="12700">
            <a:solidFill>
              <a:srgbClr val="FFF2D7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92240" y="5129784"/>
            <a:ext cx="4855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這份作品的價值在於：它既能展示實作能力，也能展示系統思考。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492240" y="5303520"/>
            <a:ext cx="4855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The value of this work is that it shows both implementation ability and systems thinking.</a:t>
            </a:r>
            <a:endParaRPr lang="en-US" sz="8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1"/>
          </a:solidFill>
          <a:ln w="12700">
            <a:solidFill>
              <a:srgbClr val="FBF7F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292608"/>
            <a:ext cx="1554480" cy="310896"/>
          </a:xfrm>
          <a:prstGeom prst="roundRect">
            <a:avLst>
              <a:gd name="adj" fmla="val 23529"/>
            </a:avLst>
          </a:prstGeom>
          <a:solidFill>
            <a:srgbClr val="FFE4DB"/>
          </a:solidFill>
          <a:ln w="12700">
            <a:solidFill>
              <a:srgbClr val="FFE4D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4747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5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WHAT I BUILT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8912" y="749808"/>
            <a:ext cx="5212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我實際完成的能力範圍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38912" y="1133856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What I Actually Built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148132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我把這個作品整理成可以面試展示的版本，重點不是功能堆疊，而是每個功能都對應到 CRM / integration 的核心能力。</a:t>
            </a:r>
            <a:endParaRPr lang="en-US" sz="101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 shaped this into an interview-ready working prototype. The focus is not feature count, but whether each feature maps to a real CRM / integration capability.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75488" y="2331720"/>
            <a:ext cx="52578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2496312"/>
            <a:ext cx="292608" cy="292608"/>
          </a:xfrm>
          <a:prstGeom prst="ellipse">
            <a:avLst/>
          </a:prstGeom>
          <a:solidFill>
            <a:srgbClr val="FFE4DB"/>
          </a:solidFill>
          <a:ln w="12700">
            <a:solidFill>
              <a:srgbClr val="FFE4D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532888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75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005840" y="2459736"/>
            <a:ext cx="4581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真實物件操作：Company / Contact / Deal。</a:t>
            </a:r>
            <a:endParaRPr lang="en-US" sz="910" dirty="0"/>
          </a:p>
        </p:txBody>
      </p:sp>
      <p:sp>
        <p:nvSpPr>
          <p:cNvPr id="13" name="Text 11"/>
          <p:cNvSpPr/>
          <p:nvPr/>
        </p:nvSpPr>
        <p:spPr>
          <a:xfrm>
            <a:off x="1005840" y="2715768"/>
            <a:ext cx="4581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Live object handling for companies, contacts, and deals.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75488" y="3383280"/>
            <a:ext cx="52578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" y="3547872"/>
            <a:ext cx="292608" cy="292608"/>
          </a:xfrm>
          <a:prstGeom prst="ellipse">
            <a:avLst/>
          </a:prstGeom>
          <a:solidFill>
            <a:srgbClr val="FFE4DB"/>
          </a:solidFill>
          <a:ln w="12700">
            <a:solidFill>
              <a:srgbClr val="FFE4D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584448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75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005840" y="3511296"/>
            <a:ext cx="4581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受控輸入與驗證：pipeline、stage、industry 來自 HubSpot。</a:t>
            </a:r>
            <a:endParaRPr lang="en-US" sz="910" dirty="0"/>
          </a:p>
        </p:txBody>
      </p:sp>
      <p:sp>
        <p:nvSpPr>
          <p:cNvPr id="18" name="Text 16"/>
          <p:cNvSpPr/>
          <p:nvPr/>
        </p:nvSpPr>
        <p:spPr>
          <a:xfrm>
            <a:off x="1005840" y="3767328"/>
            <a:ext cx="4581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Controlled validation where pipeline, stage, and industry come from HubSpot metadata.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5488" y="4434840"/>
            <a:ext cx="52578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" y="4599432"/>
            <a:ext cx="292608" cy="292608"/>
          </a:xfrm>
          <a:prstGeom prst="ellipse">
            <a:avLst/>
          </a:prstGeom>
          <a:solidFill>
            <a:srgbClr val="FFE4DB"/>
          </a:solidFill>
          <a:ln w="12700">
            <a:solidFill>
              <a:srgbClr val="FFE4D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4636008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75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05840" y="4562856"/>
            <a:ext cx="4581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商機關聯：把 deal 與 company / contact 串起來。</a:t>
            </a:r>
            <a:endParaRPr lang="en-US" sz="910" dirty="0"/>
          </a:p>
        </p:txBody>
      </p:sp>
      <p:sp>
        <p:nvSpPr>
          <p:cNvPr id="23" name="Text 21"/>
          <p:cNvSpPr/>
          <p:nvPr/>
        </p:nvSpPr>
        <p:spPr>
          <a:xfrm>
            <a:off x="1005840" y="4818888"/>
            <a:ext cx="4581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Association workflow that links deals to companies and contacts.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5488" y="5486400"/>
            <a:ext cx="52578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" y="5650992"/>
            <a:ext cx="292608" cy="292608"/>
          </a:xfrm>
          <a:prstGeom prst="ellipse">
            <a:avLst/>
          </a:prstGeom>
          <a:solidFill>
            <a:srgbClr val="FFE4DB"/>
          </a:solidFill>
          <a:ln w="12700">
            <a:solidFill>
              <a:srgbClr val="FFE4D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" y="5687568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75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05840" y="5614416"/>
            <a:ext cx="4581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CSV 匯入匯出：樣板、匯出、預覽、套用。</a:t>
            </a:r>
            <a:endParaRPr lang="en-US" sz="910" dirty="0"/>
          </a:p>
        </p:txBody>
      </p:sp>
      <p:sp>
        <p:nvSpPr>
          <p:cNvPr id="28" name="Text 26"/>
          <p:cNvSpPr/>
          <p:nvPr/>
        </p:nvSpPr>
        <p:spPr>
          <a:xfrm>
            <a:off x="1005840" y="5870448"/>
            <a:ext cx="4581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CSV import/export with template, export, preview, and apply steps.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172200" y="1417320"/>
            <a:ext cx="5577840" cy="50749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</p:sp>
      <p:pic>
        <p:nvPicPr>
          <p:cNvPr id="30" name="Image 0" descr="C:\Users\mikedell\hhupdate\hubspot-deals-sandbox-presentation\screenshots\deals-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1928" y="1527048"/>
            <a:ext cx="5358384" cy="48554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1"/>
          </a:solidFill>
          <a:ln w="12700">
            <a:solidFill>
              <a:srgbClr val="FBF7F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292608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E4DB"/>
          </a:solidFill>
          <a:ln w="12700">
            <a:solidFill>
              <a:srgbClr val="FFE4D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47472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5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KEY SCREENS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8912" y="749808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核心畫面一：主資料與商機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38912" y="1133856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Key Screens: Master Data and Deals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1481328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這兩個畫面最能說明我對 CRM 基礎結構的理解：先有主資料，再有商機，避免資料孤立。</a:t>
            </a:r>
            <a:endParaRPr lang="en-US" sz="101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These two screens best show my CRM foundation thinking: master data first, deal second, so records do not become isolated.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502920" y="2057400"/>
            <a:ext cx="544068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</p:sp>
      <p:pic>
        <p:nvPicPr>
          <p:cNvPr id="10" name="Image 0" descr="C:\Users\mikedell\hhupdate\hubspot-deals-sandbox-presentation\screenshots\companies-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2167128"/>
            <a:ext cx="5221224" cy="284378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245352" y="2057400"/>
            <a:ext cx="544068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</p:sp>
      <p:pic>
        <p:nvPicPr>
          <p:cNvPr id="12" name="Image 1" descr="C:\Users\mikedell\hhupdate\hubspot-deals-sandbox-presentation\screenshots\deals-pan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167128"/>
            <a:ext cx="5221224" cy="284378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02920" y="5349240"/>
            <a:ext cx="365760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9224" y="5513832"/>
            <a:ext cx="292608" cy="292608"/>
          </a:xfrm>
          <a:prstGeom prst="ellipse">
            <a:avLst/>
          </a:prstGeom>
          <a:solidFill>
            <a:srgbClr val="FFE4DB"/>
          </a:solidFill>
          <a:ln w="12700">
            <a:solidFill>
              <a:srgbClr val="FFE4DB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9224" y="5550408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75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1033272" y="5477256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公司資料不是裝飾，而是商機、聯絡人與後續同步的基礎。</a:t>
            </a:r>
            <a:endParaRPr lang="en-US" sz="910" dirty="0"/>
          </a:p>
        </p:txBody>
      </p:sp>
      <p:sp>
        <p:nvSpPr>
          <p:cNvPr id="17" name="Text 13"/>
          <p:cNvSpPr/>
          <p:nvPr/>
        </p:nvSpPr>
        <p:spPr>
          <a:xfrm>
            <a:off x="1033272" y="5733288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Company data is the base for deals, contacts, and later synchronization.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4270248" y="5349240"/>
            <a:ext cx="365760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416552" y="5513832"/>
            <a:ext cx="292608" cy="292608"/>
          </a:xfrm>
          <a:prstGeom prst="ellipse">
            <a:avLst/>
          </a:prstGeom>
          <a:solidFill>
            <a:srgbClr val="FFE4DB"/>
          </a:solidFill>
          <a:ln w="12700">
            <a:solidFill>
              <a:srgbClr val="FFE4DB">
                <a:alpha val="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416552" y="5550408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75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4800600" y="5477256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商機畫面同時支援建立、查詢與結果檢視。</a:t>
            </a:r>
            <a:endParaRPr lang="en-US" sz="910" dirty="0"/>
          </a:p>
        </p:txBody>
      </p:sp>
      <p:sp>
        <p:nvSpPr>
          <p:cNvPr id="22" name="Text 18"/>
          <p:cNvSpPr/>
          <p:nvPr/>
        </p:nvSpPr>
        <p:spPr>
          <a:xfrm>
            <a:off x="4800600" y="5733288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The deal screen combines creation, search, and result inspection in one place.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8037576" y="5349240"/>
            <a:ext cx="365760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8183880" y="5513832"/>
            <a:ext cx="292608" cy="292608"/>
          </a:xfrm>
          <a:prstGeom prst="ellipse">
            <a:avLst/>
          </a:prstGeom>
          <a:solidFill>
            <a:srgbClr val="FFE4DB"/>
          </a:solidFill>
          <a:ln w="12700">
            <a:solidFill>
              <a:srgbClr val="FFE4DB">
                <a:alpha val="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183880" y="5550408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75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8567928" y="5477256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下拉選單直接讀取 HubSpot 規則，減少無效輸入。</a:t>
            </a:r>
            <a:endParaRPr lang="en-US" sz="910" dirty="0"/>
          </a:p>
        </p:txBody>
      </p:sp>
      <p:sp>
        <p:nvSpPr>
          <p:cNvPr id="27" name="Text 23"/>
          <p:cNvSpPr/>
          <p:nvPr/>
        </p:nvSpPr>
        <p:spPr>
          <a:xfrm>
            <a:off x="8567928" y="5733288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Dropdowns reflect live HubSpot rules and reduce invalid submissions.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1"/>
          </a:solidFill>
          <a:ln w="12700">
            <a:solidFill>
              <a:srgbClr val="FBF7F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292608"/>
            <a:ext cx="1691640" cy="310896"/>
          </a:xfrm>
          <a:prstGeom prst="roundRect">
            <a:avLst>
              <a:gd name="adj" fmla="val 23529"/>
            </a:avLst>
          </a:prstGeom>
          <a:solidFill>
            <a:srgbClr val="FFE4DB"/>
          </a:solidFill>
          <a:ln w="12700">
            <a:solidFill>
              <a:srgbClr val="FFE4D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47472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5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INTEGRATION FLOW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8912" y="749808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核心畫面二：關聯與匯入流程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38912" y="1133856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Key Screens: Linking and Import Workflow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1481328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如果要讓主管看到我不是只會做表單，這一頁最重要：它證明我理解資料關係與批次資料流程。</a:t>
            </a:r>
            <a:endParaRPr lang="en-US" sz="101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If I want a hiring manager to see that I am more than a form builder, this slide matters most. It proves I understand data relationships and batch data workflow.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502920" y="1993392"/>
            <a:ext cx="544068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</p:sp>
      <p:pic>
        <p:nvPicPr>
          <p:cNvPr id="10" name="Image 0" descr="C:\Users\mikedell\hhupdate\hubspot-deals-sandbox-presentation\screenshots\links-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2103120"/>
            <a:ext cx="5221224" cy="288950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245352" y="1993392"/>
            <a:ext cx="544068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</p:sp>
      <p:pic>
        <p:nvPicPr>
          <p:cNvPr id="12" name="Image 1" descr="C:\Users\mikedell\hhupdate\hubspot-deals-sandbox-presentation\screenshots\import-pan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103120"/>
            <a:ext cx="5221224" cy="288950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02920" y="5376672"/>
            <a:ext cx="356616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9224" y="5541264"/>
            <a:ext cx="292608" cy="292608"/>
          </a:xfrm>
          <a:prstGeom prst="ellipse">
            <a:avLst/>
          </a:prstGeom>
          <a:solidFill>
            <a:srgbClr val="FFE4DB"/>
          </a:solidFill>
          <a:ln w="12700">
            <a:solidFill>
              <a:srgbClr val="FFE4DB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9224" y="5577840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75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1033272" y="550468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Links 畫面說明 deal 不該孤立存在，必須連到真實公司與窗口。</a:t>
            </a:r>
            <a:endParaRPr lang="en-US" sz="910" dirty="0"/>
          </a:p>
        </p:txBody>
      </p:sp>
      <p:sp>
        <p:nvSpPr>
          <p:cNvPr id="17" name="Text 13"/>
          <p:cNvSpPr/>
          <p:nvPr/>
        </p:nvSpPr>
        <p:spPr>
          <a:xfrm>
            <a:off x="1033272" y="5760720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The links screen shows that a deal should be connected to a real company and real contact.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4224528" y="5376672"/>
            <a:ext cx="370332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370832" y="5541264"/>
            <a:ext cx="292608" cy="292608"/>
          </a:xfrm>
          <a:prstGeom prst="ellipse">
            <a:avLst/>
          </a:prstGeom>
          <a:solidFill>
            <a:srgbClr val="FFE4DB"/>
          </a:solidFill>
          <a:ln w="12700">
            <a:solidFill>
              <a:srgbClr val="FFE4DB">
                <a:alpha val="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370832" y="5577840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75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4754880" y="5504688"/>
            <a:ext cx="3026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Import 畫面把 CSV 變成可驗證、可預覽、可說明的流程。</a:t>
            </a:r>
            <a:endParaRPr lang="en-US" sz="910" dirty="0"/>
          </a:p>
        </p:txBody>
      </p:sp>
      <p:sp>
        <p:nvSpPr>
          <p:cNvPr id="22" name="Text 18"/>
          <p:cNvSpPr/>
          <p:nvPr/>
        </p:nvSpPr>
        <p:spPr>
          <a:xfrm>
            <a:off x="4754880" y="5760720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The import screen turns CSV into a workflow that can be validated, previewed, and explained.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8083296" y="5376672"/>
            <a:ext cx="3602736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8229600" y="5541264"/>
            <a:ext cx="292608" cy="292608"/>
          </a:xfrm>
          <a:prstGeom prst="ellipse">
            <a:avLst/>
          </a:prstGeom>
          <a:solidFill>
            <a:srgbClr val="FFE4DB"/>
          </a:solidFill>
          <a:ln w="12700">
            <a:solidFill>
              <a:srgbClr val="FFE4DB">
                <a:alpha val="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229600" y="5577840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75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8613648" y="550468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這部分最接近 CRM / ERP integration 職位會在意的能力。</a:t>
            </a:r>
            <a:endParaRPr lang="en-US" sz="910" dirty="0"/>
          </a:p>
        </p:txBody>
      </p:sp>
      <p:sp>
        <p:nvSpPr>
          <p:cNvPr id="27" name="Text 23"/>
          <p:cNvSpPr/>
          <p:nvPr/>
        </p:nvSpPr>
        <p:spPr>
          <a:xfrm>
            <a:off x="8613648" y="5760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This is the part closest to what CRM / ERP integration roles usually care about.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1"/>
          </a:solidFill>
          <a:ln w="12700">
            <a:solidFill>
              <a:srgbClr val="FBF7F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292608"/>
            <a:ext cx="1554480" cy="310896"/>
          </a:xfrm>
          <a:prstGeom prst="roundRect">
            <a:avLst>
              <a:gd name="adj" fmla="val 23529"/>
            </a:avLst>
          </a:prstGeom>
          <a:solidFill>
            <a:srgbClr val="FFE4DB"/>
          </a:solidFill>
          <a:ln w="12700">
            <a:solidFill>
              <a:srgbClr val="FFE4D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4747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5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TECHNICAL 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8912" y="749808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技術設計與專業化方向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38912" y="1133856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Technical Design and Next Professional Step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1481328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目前版本是可展示、可運作的 prototype；如果往專業 CRM integration 方向走，下一步就是加入 SQL staging、audit 與 import history。</a:t>
            </a:r>
            <a:endParaRPr lang="en-US" sz="101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The current version is a working prototype suitable for interviews. The next professional step is SQL staging, audit logging, and import history.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502920" y="2084832"/>
            <a:ext cx="544068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31136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目前架構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468880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Current structure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41248" y="2514600"/>
            <a:ext cx="4736592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60604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瀏覽器 UI</a:t>
            </a:r>
            <a:endParaRPr lang="en-US" sz="940" dirty="0"/>
          </a:p>
        </p:txBody>
      </p:sp>
      <p:sp>
        <p:nvSpPr>
          <p:cNvPr id="14" name="Text 12"/>
          <p:cNvSpPr/>
          <p:nvPr/>
        </p:nvSpPr>
        <p:spPr>
          <a:xfrm>
            <a:off x="1005840" y="28620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Browser UI</a:t>
            </a:r>
            <a:endParaRPr lang="en-US" sz="860" dirty="0"/>
          </a:p>
        </p:txBody>
      </p:sp>
      <p:sp>
        <p:nvSpPr>
          <p:cNvPr id="15" name="Text 13"/>
          <p:cNvSpPr/>
          <p:nvPr/>
        </p:nvSpPr>
        <p:spPr>
          <a:xfrm>
            <a:off x="3081528" y="302666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7A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↓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41248" y="3264408"/>
            <a:ext cx="4736592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35584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ASP.NET Core API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1005840" y="36118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ASP.NET Core demo layer</a:t>
            </a:r>
            <a:endParaRPr lang="en-US" sz="860" dirty="0"/>
          </a:p>
        </p:txBody>
      </p:sp>
      <p:sp>
        <p:nvSpPr>
          <p:cNvPr id="19" name="Text 17"/>
          <p:cNvSpPr/>
          <p:nvPr/>
        </p:nvSpPr>
        <p:spPr>
          <a:xfrm>
            <a:off x="3081528" y="377647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7A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↓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41248" y="4014216"/>
            <a:ext cx="4736592" cy="512064"/>
          </a:xfrm>
          <a:prstGeom prst="roundRect">
            <a:avLst>
              <a:gd name="adj" fmla="val 21429"/>
            </a:avLst>
          </a:prstGeom>
          <a:solidFill>
            <a:srgbClr val="FFFAF2"/>
          </a:solidFill>
          <a:ln w="12700">
            <a:solidFill>
              <a:srgbClr val="E7DCC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10565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驗證與 CSV 服務</a:t>
            </a:r>
            <a:endParaRPr lang="en-US" sz="940" dirty="0"/>
          </a:p>
        </p:txBody>
      </p:sp>
      <p:sp>
        <p:nvSpPr>
          <p:cNvPr id="22" name="Text 20"/>
          <p:cNvSpPr/>
          <p:nvPr/>
        </p:nvSpPr>
        <p:spPr>
          <a:xfrm>
            <a:off x="1005840" y="436168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Validation and CSV workflow</a:t>
            </a:r>
            <a:endParaRPr lang="en-US" sz="860" dirty="0"/>
          </a:p>
        </p:txBody>
      </p:sp>
      <p:sp>
        <p:nvSpPr>
          <p:cNvPr id="23" name="Text 21"/>
          <p:cNvSpPr/>
          <p:nvPr/>
        </p:nvSpPr>
        <p:spPr>
          <a:xfrm>
            <a:off x="3081528" y="452628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7A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↓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41248" y="4764024"/>
            <a:ext cx="4736592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4855464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HubSpot Sandbox</a:t>
            </a:r>
            <a:endParaRPr lang="en-US" sz="940" dirty="0"/>
          </a:p>
        </p:txBody>
      </p:sp>
      <p:sp>
        <p:nvSpPr>
          <p:cNvPr id="26" name="Text 24"/>
          <p:cNvSpPr/>
          <p:nvPr/>
        </p:nvSpPr>
        <p:spPr>
          <a:xfrm>
            <a:off x="1005840" y="511149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Live HubSpot sandbox data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6236208" y="2084832"/>
            <a:ext cx="544068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19088" y="2231136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下一步專業化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19088" y="2468880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Next step toward production-like integration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446520" y="2542032"/>
            <a:ext cx="502920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92824" y="2706624"/>
            <a:ext cx="292608" cy="292608"/>
          </a:xfrm>
          <a:prstGeom prst="ellipse">
            <a:avLst/>
          </a:prstGeom>
          <a:solidFill>
            <a:srgbClr val="FFE4DB"/>
          </a:solidFill>
          <a:ln w="12700">
            <a:solidFill>
              <a:srgbClr val="FFE4DB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92824" y="2743200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75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976872" y="2670048"/>
            <a:ext cx="4352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加入 SQLite / SQL staging，先存再驗證再套用。</a:t>
            </a:r>
            <a:endParaRPr lang="en-US" sz="910" dirty="0"/>
          </a:p>
        </p:txBody>
      </p:sp>
      <p:sp>
        <p:nvSpPr>
          <p:cNvPr id="34" name="Text 32"/>
          <p:cNvSpPr/>
          <p:nvPr/>
        </p:nvSpPr>
        <p:spPr>
          <a:xfrm>
            <a:off x="6976872" y="2926080"/>
            <a:ext cx="4352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Add SQLite / SQL staging so import can be stored, validated, and then applied.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446520" y="3364992"/>
            <a:ext cx="502920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92824" y="3529584"/>
            <a:ext cx="292608" cy="292608"/>
          </a:xfrm>
          <a:prstGeom prst="ellipse">
            <a:avLst/>
          </a:prstGeom>
          <a:solidFill>
            <a:srgbClr val="FFE4DB"/>
          </a:solidFill>
          <a:ln w="12700">
            <a:solidFill>
              <a:srgbClr val="FFE4DB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92824" y="3566160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75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976872" y="3493008"/>
            <a:ext cx="4352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保留 import job、row-level error、audit trail。</a:t>
            </a:r>
            <a:endParaRPr lang="en-US" sz="910" dirty="0"/>
          </a:p>
        </p:txBody>
      </p:sp>
      <p:sp>
        <p:nvSpPr>
          <p:cNvPr id="39" name="Text 37"/>
          <p:cNvSpPr/>
          <p:nvPr/>
        </p:nvSpPr>
        <p:spPr>
          <a:xfrm>
            <a:off x="6976872" y="3749040"/>
            <a:ext cx="4352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Keep import jobs, row-level errors, and audit trail.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446520" y="4187952"/>
            <a:ext cx="502920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92824" y="4352544"/>
            <a:ext cx="292608" cy="292608"/>
          </a:xfrm>
          <a:prstGeom prst="ellipse">
            <a:avLst/>
          </a:prstGeom>
          <a:solidFill>
            <a:srgbClr val="FFE4DB"/>
          </a:solidFill>
          <a:ln w="12700">
            <a:solidFill>
              <a:srgbClr val="FFE4DB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92824" y="4389120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75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976872" y="4315968"/>
            <a:ext cx="4352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支援 retry、deduplication、history 查詢。</a:t>
            </a:r>
            <a:endParaRPr lang="en-US" sz="910" dirty="0"/>
          </a:p>
        </p:txBody>
      </p:sp>
      <p:sp>
        <p:nvSpPr>
          <p:cNvPr id="44" name="Text 42"/>
          <p:cNvSpPr/>
          <p:nvPr/>
        </p:nvSpPr>
        <p:spPr>
          <a:xfrm>
            <a:off x="6976872" y="4572000"/>
            <a:ext cx="4352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Support retry, deduplication, and history lookup.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446520" y="5120640"/>
            <a:ext cx="5029200" cy="548640"/>
          </a:xfrm>
          <a:prstGeom prst="roundRect">
            <a:avLst>
              <a:gd name="adj" fmla="val 20000"/>
            </a:avLst>
          </a:prstGeom>
          <a:solidFill>
            <a:srgbClr val="FFF2D7"/>
          </a:solidFill>
          <a:ln w="12700">
            <a:solidFill>
              <a:srgbClr val="FFF2D7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11112" y="5239512"/>
            <a:ext cx="4709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這會把作品從 demo 提升到更像真實內部系統或 CRM integration stand。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611112" y="5413248"/>
            <a:ext cx="4709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This is what would move the work from a demo toward a more realistic internal system or CRM integration stand.</a:t>
            </a:r>
            <a:endParaRPr lang="en-US" sz="87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1"/>
          </a:solidFill>
          <a:ln w="12700">
            <a:solidFill>
              <a:srgbClr val="FBF7F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292608"/>
            <a:ext cx="1188720" cy="310896"/>
          </a:xfrm>
          <a:prstGeom prst="roundRect">
            <a:avLst>
              <a:gd name="adj" fmla="val 23529"/>
            </a:avLst>
          </a:prstGeom>
          <a:solidFill>
            <a:srgbClr val="FFE4DB"/>
          </a:solidFill>
          <a:ln w="12700">
            <a:solidFill>
              <a:srgbClr val="FFE4D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4747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5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ROLE FIT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8912" y="749808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為什麼我適合這類職位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38912" y="1133856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Why I Fit This Type of Role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1481328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如果面試職位是 C#、HubSpot、API、CRM/ERP integration、import/export、SQL-ready 思維，這份作品正好能作為一個具體說明。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If the role asks for C#, HubSpot, API integration, CRM/ERP workflow, import/export, and SQL-ready thinking, this project gives a concrete way to explain that fit.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502920" y="2176272"/>
            <a:ext cx="548640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322576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我能帶來的能力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560320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Capability I bring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31520" y="2633472"/>
            <a:ext cx="5029200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7824" y="2798064"/>
            <a:ext cx="292608" cy="292608"/>
          </a:xfrm>
          <a:prstGeom prst="ellipse">
            <a:avLst/>
          </a:prstGeom>
          <a:solidFill>
            <a:srgbClr val="FFE4DB"/>
          </a:solidFill>
          <a:ln w="12700">
            <a:solidFill>
              <a:srgbClr val="FFE4D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2834640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75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261872" y="2761488"/>
            <a:ext cx="4352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C# / ASP.NET Core 快速做出可運作原型。</a:t>
            </a:r>
            <a:endParaRPr lang="en-US" sz="910" dirty="0"/>
          </a:p>
        </p:txBody>
      </p:sp>
      <p:sp>
        <p:nvSpPr>
          <p:cNvPr id="16" name="Text 14"/>
          <p:cNvSpPr/>
          <p:nvPr/>
        </p:nvSpPr>
        <p:spPr>
          <a:xfrm>
            <a:off x="1261872" y="3017520"/>
            <a:ext cx="4352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 can build a working prototype quickly in C# / ASP.NET Core.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31520" y="3346704"/>
            <a:ext cx="5029200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7824" y="3511296"/>
            <a:ext cx="292608" cy="292608"/>
          </a:xfrm>
          <a:prstGeom prst="ellipse">
            <a:avLst/>
          </a:prstGeom>
          <a:solidFill>
            <a:srgbClr val="FFE4DB"/>
          </a:solidFill>
          <a:ln w="12700">
            <a:solidFill>
              <a:srgbClr val="FFE4D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" y="354787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75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261872" y="3474720"/>
            <a:ext cx="4352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理解 CRM 物件模型：company、contact、deal、association。</a:t>
            </a:r>
            <a:endParaRPr lang="en-US" sz="910" dirty="0"/>
          </a:p>
        </p:txBody>
      </p:sp>
      <p:sp>
        <p:nvSpPr>
          <p:cNvPr id="21" name="Text 19"/>
          <p:cNvSpPr/>
          <p:nvPr/>
        </p:nvSpPr>
        <p:spPr>
          <a:xfrm>
            <a:off x="1261872" y="3730752"/>
            <a:ext cx="4352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 understand the CRM object model: company, contact, deal, association.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31520" y="4059936"/>
            <a:ext cx="5029200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77824" y="4224528"/>
            <a:ext cx="292608" cy="292608"/>
          </a:xfrm>
          <a:prstGeom prst="ellipse">
            <a:avLst/>
          </a:prstGeom>
          <a:solidFill>
            <a:srgbClr val="FFE4DB"/>
          </a:solidFill>
          <a:ln w="12700">
            <a:solidFill>
              <a:srgbClr val="FFE4D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7824" y="4261104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75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261872" y="4187952"/>
            <a:ext cx="4352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知道何時該做前端控制，何時該做後端驗證。</a:t>
            </a:r>
            <a:endParaRPr lang="en-US" sz="910" dirty="0"/>
          </a:p>
        </p:txBody>
      </p:sp>
      <p:sp>
        <p:nvSpPr>
          <p:cNvPr id="26" name="Text 24"/>
          <p:cNvSpPr/>
          <p:nvPr/>
        </p:nvSpPr>
        <p:spPr>
          <a:xfrm>
            <a:off x="1261872" y="4443984"/>
            <a:ext cx="4352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 know when to use front-end control and when to enforce server-side validation.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31520" y="4773168"/>
            <a:ext cx="5029200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4937760"/>
            <a:ext cx="292608" cy="292608"/>
          </a:xfrm>
          <a:prstGeom prst="ellipse">
            <a:avLst/>
          </a:prstGeom>
          <a:solidFill>
            <a:srgbClr val="FFE4DB"/>
          </a:solidFill>
          <a:ln w="12700">
            <a:solidFill>
              <a:srgbClr val="FFE4D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7824" y="4974336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75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261872" y="4901184"/>
            <a:ext cx="4352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能把 CSV / API / validation 串成實際業務流程。</a:t>
            </a:r>
            <a:endParaRPr lang="en-US" sz="910" dirty="0"/>
          </a:p>
        </p:txBody>
      </p:sp>
      <p:sp>
        <p:nvSpPr>
          <p:cNvPr id="31" name="Text 29"/>
          <p:cNvSpPr/>
          <p:nvPr/>
        </p:nvSpPr>
        <p:spPr>
          <a:xfrm>
            <a:off x="1261872" y="5157216"/>
            <a:ext cx="4352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 can turn CSV, API, and validation into a practical business workflow.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1520" y="5486400"/>
            <a:ext cx="5029200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77824" y="5650992"/>
            <a:ext cx="292608" cy="292608"/>
          </a:xfrm>
          <a:prstGeom prst="ellipse">
            <a:avLst/>
          </a:prstGeom>
          <a:solidFill>
            <a:srgbClr val="FFE4DB"/>
          </a:solidFill>
          <a:ln w="12700">
            <a:solidFill>
              <a:srgbClr val="FFE4DB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7824" y="5687568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75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261872" y="5614416"/>
            <a:ext cx="4352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也清楚下一步如何往 SQL / audit / staging 擴展。</a:t>
            </a:r>
            <a:endParaRPr lang="en-US" sz="910" dirty="0"/>
          </a:p>
        </p:txBody>
      </p:sp>
      <p:sp>
        <p:nvSpPr>
          <p:cNvPr id="36" name="Text 34"/>
          <p:cNvSpPr/>
          <p:nvPr/>
        </p:nvSpPr>
        <p:spPr>
          <a:xfrm>
            <a:off x="1261872" y="5870448"/>
            <a:ext cx="4352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 also understand the next step toward SQL, audit, and staging capability.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236208" y="2176272"/>
            <a:ext cx="544068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19088" y="2322576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主管最可能想知道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19088" y="2560320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What a manager is most likely to care about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455664" y="2633472"/>
            <a:ext cx="5001768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601968" y="2798064"/>
            <a:ext cx="292608" cy="292608"/>
          </a:xfrm>
          <a:prstGeom prst="ellipse">
            <a:avLst/>
          </a:prstGeom>
          <a:solidFill>
            <a:srgbClr val="FFE4DB"/>
          </a:solidFill>
          <a:ln w="12700">
            <a:solidFill>
              <a:srgbClr val="FFE4DB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01968" y="2834640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75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986016" y="2761488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我不是只做畫面，而是把流程與資料關係做清楚。</a:t>
            </a:r>
            <a:endParaRPr lang="en-US" sz="910" dirty="0"/>
          </a:p>
        </p:txBody>
      </p:sp>
      <p:sp>
        <p:nvSpPr>
          <p:cNvPr id="44" name="Text 42"/>
          <p:cNvSpPr/>
          <p:nvPr/>
        </p:nvSpPr>
        <p:spPr>
          <a:xfrm>
            <a:off x="6986016" y="3017520"/>
            <a:ext cx="4325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 am not only building screens; I am structuring workflow and data relationships.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455664" y="3529584"/>
            <a:ext cx="5001768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601968" y="3694176"/>
            <a:ext cx="292608" cy="292608"/>
          </a:xfrm>
          <a:prstGeom prst="ellipse">
            <a:avLst/>
          </a:prstGeom>
          <a:solidFill>
            <a:srgbClr val="FFE4DB"/>
          </a:solidFill>
          <a:ln w="12700">
            <a:solidFill>
              <a:srgbClr val="FFE4DB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01968" y="373075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75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986016" y="3657600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我能展示 working solution，也能誠實說明目前邊界。</a:t>
            </a:r>
            <a:endParaRPr lang="en-US" sz="910" dirty="0"/>
          </a:p>
        </p:txBody>
      </p:sp>
      <p:sp>
        <p:nvSpPr>
          <p:cNvPr id="49" name="Text 47"/>
          <p:cNvSpPr/>
          <p:nvPr/>
        </p:nvSpPr>
        <p:spPr>
          <a:xfrm>
            <a:off x="6986016" y="3913632"/>
            <a:ext cx="4325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 can show a working solution and also explain its current boundaries honestly.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455664" y="4425696"/>
            <a:ext cx="5001768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601968" y="4590288"/>
            <a:ext cx="292608" cy="292608"/>
          </a:xfrm>
          <a:prstGeom prst="ellipse">
            <a:avLst/>
          </a:prstGeom>
          <a:solidFill>
            <a:srgbClr val="FFE4DB"/>
          </a:solidFill>
          <a:ln w="12700">
            <a:solidFill>
              <a:srgbClr val="FFE4DB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01968" y="4626864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75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986016" y="4553712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這讓作品更像成熟候選人的展示，而不是單純作業。</a:t>
            </a:r>
            <a:endParaRPr lang="en-US" sz="910" dirty="0"/>
          </a:p>
        </p:txBody>
      </p:sp>
      <p:sp>
        <p:nvSpPr>
          <p:cNvPr id="54" name="Text 52"/>
          <p:cNvSpPr/>
          <p:nvPr/>
        </p:nvSpPr>
        <p:spPr>
          <a:xfrm>
            <a:off x="6986016" y="4809744"/>
            <a:ext cx="4325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That makes the presentation feel closer to a mature candidate deck than a classroom assignment.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455664" y="5449824"/>
            <a:ext cx="5001768" cy="548640"/>
          </a:xfrm>
          <a:prstGeom prst="roundRect">
            <a:avLst>
              <a:gd name="adj" fmla="val 20000"/>
            </a:avLst>
          </a:prstGeom>
          <a:solidFill>
            <a:srgbClr val="FFF2D7"/>
          </a:solidFill>
          <a:ln w="12700">
            <a:solidFill>
              <a:srgbClr val="FFF2D7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620256" y="5568696"/>
            <a:ext cx="4681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一句話總結：我可以把 CRM 需求落地成系統，並知道怎麼把它往更專業的方向推進。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6620256" y="5742432"/>
            <a:ext cx="4681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One-line summary: I can turn CRM requirements into a working system and know how to push it toward a more professional solution.</a:t>
            </a:r>
            <a:endParaRPr lang="en-US" sz="8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HubSpot CRM Integration Candidate Deck</dc:title>
  <dc:subject>Bilingual candidate presentation for HubSpot CRM integration demo</dc:subject>
  <dc:creator>OpenAI Codex</dc:creator>
  <cp:lastModifiedBy>OpenAI Codex</cp:lastModifiedBy>
  <cp:revision>1</cp:revision>
  <dcterms:created xsi:type="dcterms:W3CDTF">2026-04-18T06:18:15Z</dcterms:created>
  <dcterms:modified xsi:type="dcterms:W3CDTF">2026-04-18T06:18:15Z</dcterms:modified>
</cp:coreProperties>
</file>